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0" r:id="rId10"/>
    <p:sldId id="266" r:id="rId11"/>
    <p:sldId id="267" r:id="rId12"/>
  </p:sldIdLst>
  <p:sldSz cx="12192000" cy="6858000"/>
  <p:notesSz cx="6858000" cy="9144000"/>
  <p:embeddedFontLst>
    <p:embeddedFont>
      <p:font typeface="Inter" panose="020B0604020202020204" charset="0"/>
      <p:regular r:id="rId14"/>
      <p:bold r:id="rId15"/>
      <p:italic r:id="rId16"/>
      <p:boldItalic r:id="rId17"/>
    </p:embeddedFont>
    <p:embeddedFont>
      <p:font typeface="Inter Light" panose="020B0604020202020204" charset="0"/>
      <p:regular r:id="rId18"/>
      <p:bold r:id="rId19"/>
      <p:italic r:id="rId20"/>
      <p:boldItalic r:id="rId21"/>
    </p:embeddedFont>
    <p:embeddedFont>
      <p:font typeface="Inter SemiBold" panose="020B0604020202020204" charset="0"/>
      <p:regular r:id="rId22"/>
      <p:bold r:id="rId23"/>
      <p:italic r:id="rId24"/>
      <p:boldItalic r:id="rId25"/>
    </p:embeddedFont>
    <p:embeddedFont>
      <p:font typeface="Playfair Display" panose="000005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5227C96-1F3A-4004-8533-D3E114F87C31}">
  <a:tblStyle styleId="{E5227C96-1F3A-4004-8533-D3E114F87C3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4" y="19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762000" y="2127944"/>
            <a:ext cx="952500" cy="571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2470844"/>
            <a:ext cx="11201400" cy="1828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Airbnb Data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 dirty="0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Warehouse Schema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3979366"/>
            <a:ext cx="106680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l-GR" sz="2100" b="0" i="0" u="none" strike="noStrike" cap="none" dirty="0">
              <a:solidFill>
                <a:srgbClr val="4A4A4A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4A4A4A"/>
                </a:solidFill>
                <a:latin typeface="Inter Light"/>
                <a:ea typeface="Inter Light"/>
                <a:cs typeface="Inter Light"/>
                <a:sym typeface="Inter Light"/>
              </a:rPr>
              <a:t>Αρχιτεκτονική</a:t>
            </a:r>
            <a:r>
              <a:rPr lang="en-US" sz="2100" b="0" i="0" u="none" strike="noStrike" cap="none" dirty="0">
                <a:solidFill>
                  <a:srgbClr val="4A4A4A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2100" b="0" i="0" u="none" strike="noStrike" cap="none" dirty="0" err="1">
                <a:solidFill>
                  <a:srgbClr val="4A4A4A"/>
                </a:solidFill>
                <a:latin typeface="Inter Light"/>
                <a:ea typeface="Inter Light"/>
                <a:cs typeface="Inter Light"/>
                <a:sym typeface="Inter Light"/>
              </a:rPr>
              <a:t>Δεδομένων</a:t>
            </a:r>
            <a:r>
              <a:rPr lang="en-US" sz="2100" b="0" i="0" u="none" strike="noStrike" cap="none" dirty="0">
                <a:solidFill>
                  <a:srgbClr val="4A4A4A"/>
                </a:solidFill>
                <a:latin typeface="Inter Light"/>
                <a:ea typeface="Inter Light"/>
                <a:cs typeface="Inter Light"/>
                <a:sym typeface="Inter Light"/>
              </a:rPr>
              <a:t> &amp; </a:t>
            </a:r>
            <a:r>
              <a:rPr lang="en-US" sz="2100" b="0" i="0" u="none" strike="noStrike" cap="none" dirty="0" err="1">
                <a:solidFill>
                  <a:srgbClr val="4A4A4A"/>
                </a:solidFill>
                <a:latin typeface="Inter Light"/>
                <a:ea typeface="Inter Light"/>
                <a:cs typeface="Inter Light"/>
                <a:sym typeface="Inter Light"/>
              </a:rPr>
              <a:t>Στρ</a:t>
            </a:r>
            <a:r>
              <a:rPr lang="en-US" sz="2100" b="0" i="0" u="none" strike="noStrike" cap="none" dirty="0">
                <a:solidFill>
                  <a:srgbClr val="4A4A4A"/>
                </a:solidFill>
                <a:latin typeface="Inter Light"/>
                <a:ea typeface="Inter Light"/>
                <a:cs typeface="Inter Light"/>
                <a:sym typeface="Inter Light"/>
              </a:rPr>
              <a:t>ατηγική Snowflake Schema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4787056"/>
            <a:ext cx="10668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l-GR" sz="1500" b="0" i="0" u="none" strike="noStrike" cap="none" dirty="0">
              <a:solidFill>
                <a:srgbClr val="D4AF3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4AF3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Presentation | 202</a:t>
            </a:r>
            <a:r>
              <a:rPr lang="el-GR" sz="1500" b="0" i="0" u="none" strike="noStrike" cap="none" dirty="0">
                <a:solidFill>
                  <a:srgbClr val="D4AF3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7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1650444" y="2231677"/>
            <a:ext cx="8891111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ARCHITECTURE OVERVIEW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2286000" y="3422302"/>
            <a:ext cx="76200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4A4A4A"/>
                </a:solidFill>
                <a:latin typeface="Inter Light"/>
                <a:ea typeface="Inter Light"/>
                <a:cs typeface="Inter Light"/>
                <a:sym typeface="Inter Light"/>
              </a:rPr>
              <a:t>Μετ</a:t>
            </a:r>
            <a:r>
              <a:rPr lang="en-US" sz="2100" b="0" i="0" u="none" strike="noStrike" cap="none" dirty="0">
                <a:solidFill>
                  <a:srgbClr val="4A4A4A"/>
                </a:solidFill>
                <a:latin typeface="Inter Light"/>
                <a:ea typeface="Inter Light"/>
                <a:cs typeface="Inter Light"/>
                <a:sym typeface="Inter Light"/>
              </a:rPr>
              <a:t>ατροπή των ακατέργαστων δεδομένων της Airbnb σε δομημέν</a:t>
            </a:r>
            <a:r>
              <a:rPr lang="el-GR" sz="2100" b="0" i="0" u="none" strike="noStrike" cap="none" dirty="0">
                <a:solidFill>
                  <a:srgbClr val="4A4A4A"/>
                </a:solidFill>
                <a:latin typeface="Inter Light"/>
                <a:ea typeface="Inter Light"/>
                <a:cs typeface="Inter Light"/>
                <a:sym typeface="Inter Light"/>
              </a:rPr>
              <a:t>α και</a:t>
            </a:r>
            <a:r>
              <a:rPr lang="en-US" sz="2100" b="0" i="0" u="none" strike="noStrike" cap="none" dirty="0">
                <a:solidFill>
                  <a:srgbClr val="4A4A4A"/>
                </a:solidFill>
                <a:latin typeface="Inter Light"/>
                <a:ea typeface="Inter Light"/>
                <a:cs typeface="Inter Light"/>
                <a:sym typeface="Inter Light"/>
              </a:rPr>
              <a:t> β</a:t>
            </a:r>
            <a:r>
              <a:rPr lang="en-US" sz="2100" b="0" i="0" u="none" strike="noStrike" cap="none" dirty="0" err="1">
                <a:solidFill>
                  <a:srgbClr val="4A4A4A"/>
                </a:solidFill>
                <a:latin typeface="Inter Light"/>
                <a:ea typeface="Inter Light"/>
                <a:cs typeface="Inter Light"/>
                <a:sym typeface="Inter Light"/>
              </a:rPr>
              <a:t>ελτιστο</a:t>
            </a:r>
            <a:r>
              <a:rPr lang="en-US" sz="2100" b="0" i="0" u="none" strike="noStrike" cap="none" dirty="0">
                <a:solidFill>
                  <a:srgbClr val="4A4A4A"/>
                </a:solidFill>
                <a:latin typeface="Inter Light"/>
                <a:ea typeface="Inter Light"/>
                <a:cs typeface="Inter Light"/>
                <a:sym typeface="Inter Light"/>
              </a:rPr>
              <a:t>ποιημέν</a:t>
            </a:r>
            <a:r>
              <a:rPr lang="el-GR" sz="2100" b="0" i="0" u="none" strike="noStrike" cap="none" dirty="0">
                <a:solidFill>
                  <a:srgbClr val="4A4A4A"/>
                </a:solidFill>
                <a:latin typeface="Inter Light"/>
                <a:ea typeface="Inter Light"/>
                <a:cs typeface="Inter Light"/>
                <a:sym typeface="Inter Light"/>
              </a:rPr>
              <a:t>α για λήψη αποφάσεων</a:t>
            </a:r>
            <a:r>
              <a:rPr lang="en-US" sz="2100" b="0" i="0" u="none" strike="noStrike" cap="none" dirty="0">
                <a:solidFill>
                  <a:srgbClr val="4A4A4A"/>
                </a:solidFill>
                <a:latin typeface="Inter Light"/>
                <a:ea typeface="Inter Light"/>
                <a:cs typeface="Inter Light"/>
                <a:sym typeface="Inter Light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7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033587"/>
            <a:ext cx="5048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952500" y="647700"/>
            <a:ext cx="1100137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Η ΦΙΛΟΣΟΦΊΑ ΤΟΥ ΣΧΕΔΙΑΣΜΟΎ</a:t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762000" y="647700"/>
            <a:ext cx="47625" cy="5619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762000" y="2647950"/>
            <a:ext cx="530066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0336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Fact vs Dimension Snowflake Schema</a:t>
            </a:r>
            <a:endParaRPr dirty="0"/>
          </a:p>
        </p:txBody>
      </p:sp>
      <p:sp>
        <p:nvSpPr>
          <p:cNvPr id="106" name="Google Shape;106;p15"/>
          <p:cNvSpPr txBox="1"/>
          <p:nvPr/>
        </p:nvSpPr>
        <p:spPr>
          <a:xfrm>
            <a:off x="762000" y="3114675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Διαχωρισμός των μετρήσιμων γεγονότων (Facts) από τις περιγραφικές ιδιότητες (Dimensions) για μέγιστη ταχύτητα ερωτημάτων.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47725" y="42195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52500" y="4219575"/>
            <a:ext cx="48577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Facts:</a:t>
            </a:r>
            <a:r>
              <a:rPr lang="el-GR" sz="1500" b="1" i="0" u="none" strike="noStrike" cap="none" dirty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dirty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BOOKINGS, REVIEWS,LISTING_PERFORMANCE</a:t>
            </a:r>
            <a:r>
              <a:rPr lang="en-US" sz="1500" b="0" i="0" u="none" strike="noStrike" cap="none" dirty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10" name="Google Shape;110;p15"/>
          <p:cNvSpPr txBox="1"/>
          <p:nvPr/>
        </p:nvSpPr>
        <p:spPr>
          <a:xfrm>
            <a:off x="847725" y="46196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952500" y="4619625"/>
            <a:ext cx="4857750" cy="105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Dimensions: </a:t>
            </a:r>
            <a:r>
              <a:rPr lang="en-US" dirty="0">
                <a:solidFill>
                  <a:srgbClr val="1A1A1A"/>
                </a:solidFill>
                <a:latin typeface="Inter"/>
                <a:ea typeface="Inter"/>
                <a:sym typeface="Inter"/>
              </a:rPr>
              <a:t>LISTING, HOST,NEIGHBOURHOOD,PROPERTY,ROOM_TYPE,REVIEWER, DATE</a:t>
            </a:r>
            <a:endParaRPr dirty="0">
              <a:solidFill>
                <a:srgbClr val="1A1A1A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7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166937"/>
            <a:ext cx="3365450" cy="354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3200" y="2166937"/>
            <a:ext cx="3365450" cy="354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64400" y="2166937"/>
            <a:ext cx="3365599" cy="35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952500" y="647700"/>
            <a:ext cx="1100137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PRIMARY ENTITY DIMENSIONS</a:t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762000" y="647700"/>
            <a:ext cx="47625" cy="5619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1077913" y="3300412"/>
            <a:ext cx="273362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336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Dim_Listing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1143000" y="3767137"/>
            <a:ext cx="260345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0000"/>
              </a:lnSpc>
            </a:pPr>
            <a:r>
              <a:rPr lang="en-US" sz="1500" b="0" i="0" u="none" strike="noStrike" cap="none" dirty="0" err="1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Το</a:t>
            </a:r>
            <a:r>
              <a:rPr lang="en-US" sz="1500" b="0" i="0" u="none" strike="noStrike" cap="none" dirty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"Blueprint" </a:t>
            </a:r>
            <a:r>
              <a:rPr lang="en-US" sz="1500" b="0" i="0" u="none" strike="noStrike" cap="none" dirty="0" err="1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κάθε</a:t>
            </a:r>
            <a:r>
              <a:rPr lang="en-US" sz="1500" b="0" i="0" u="none" strike="noStrike" cap="none" dirty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κατα</a:t>
            </a:r>
            <a:r>
              <a:rPr lang="en-US" sz="1500" b="0" i="0" u="none" strike="noStrike" cap="none" dirty="0" err="1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λύμ</a:t>
            </a:r>
            <a:r>
              <a:rPr lang="en-US" sz="1500" b="0" i="0" u="none" strike="noStrike" cap="none" dirty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ατος. </a:t>
            </a:r>
            <a:r>
              <a:rPr lang="en-US" sz="1500" b="0" i="0" u="none" strike="noStrike" cap="none" dirty="0" err="1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Περιλ</a:t>
            </a:r>
            <a:r>
              <a:rPr lang="en-US" sz="1500" b="0" i="0" u="none" strike="noStrike" cap="none" dirty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αμβάνει amenities, URLs και χωροταξικά χαρακτηριστικά</a:t>
            </a:r>
            <a:r>
              <a:rPr lang="el-GR" sz="1500" b="0" i="0" u="none" strike="noStrike" cap="none" dirty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500" dirty="0">
              <a:solidFill>
                <a:srgbClr val="1A1A1A"/>
              </a:solidFill>
              <a:latin typeface="Inter"/>
              <a:ea typeface="Inter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4729114" y="3300412"/>
            <a:ext cx="273362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336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Dim_Host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4794200" y="3767137"/>
            <a:ext cx="26034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Πλήρες προφίλ οικοδεσπότη, verification status και ιστορικό απόκρισης.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380310" y="3300412"/>
            <a:ext cx="273377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336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Dim_Reviewer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445400" y="3767137"/>
            <a:ext cx="26035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Στοιχεία χρηστών που αφήνουν σχόλια, διασφαλίζοντας την ταυτότητα του επισκέπτη.</a:t>
            </a:r>
            <a:endParaRPr/>
          </a:p>
        </p:txBody>
      </p:sp>
      <p:pic>
        <p:nvPicPr>
          <p:cNvPr id="128" name="Google Shape;12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87475" y="259556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95826" y="259556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461450" y="2595562"/>
            <a:ext cx="5715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7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471737"/>
            <a:ext cx="3390900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38650" y="2471737"/>
            <a:ext cx="3352800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77200" y="2471737"/>
            <a:ext cx="3352800" cy="293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952500" y="647700"/>
            <a:ext cx="1100137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CATEGORICAL CLASSIFICATION</a:t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762000" y="647700"/>
            <a:ext cx="47625" cy="5619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1077277" y="3605212"/>
            <a:ext cx="276034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336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Dim_Neighbourhood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1143000" y="4071937"/>
            <a:ext cx="26289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Γεωγραφική ομαδοποίηση βάσει geocoded συντεταγμένων.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4735830" y="3605212"/>
            <a:ext cx="272034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00336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Dim_Property</a:t>
            </a:r>
            <a:endParaRPr dirty="0"/>
          </a:p>
        </p:txBody>
      </p:sp>
      <p:sp>
        <p:nvSpPr>
          <p:cNvPr id="177" name="Google Shape;177;p18"/>
          <p:cNvSpPr txBox="1"/>
          <p:nvPr/>
        </p:nvSpPr>
        <p:spPr>
          <a:xfrm>
            <a:off x="4819650" y="4071937"/>
            <a:ext cx="2590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Κατηγοριοποίηση κτιρίων (Apartments, Villas, Lofts κ.α.).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8393430" y="3605212"/>
            <a:ext cx="272034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336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Dim_Room_Type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8458200" y="4071937"/>
            <a:ext cx="2590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Διαχωρισμός σε Entire Home, Private ή Shared δωμάτια.</a:t>
            </a:r>
            <a:endParaRPr/>
          </a:p>
        </p:txBody>
      </p:sp>
      <p:pic>
        <p:nvPicPr>
          <p:cNvPr id="180" name="Google Shape;18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00275" y="290036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43600" y="2900362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96425" y="2900362"/>
            <a:ext cx="5143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7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33775" y="3581400"/>
            <a:ext cx="7896225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952500" y="647700"/>
            <a:ext cx="1100137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TIME INTELLIGENCE: DIM_DATE</a:t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762000" y="647700"/>
            <a:ext cx="47625" cy="5619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762000" y="3086100"/>
            <a:ext cx="2381250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 dirty="0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</a:t>
            </a:r>
            <a:r>
              <a:rPr lang="el-GR" sz="10500" b="1" dirty="0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65</a:t>
            </a:r>
            <a:endParaRPr dirty="0"/>
          </a:p>
        </p:txBody>
      </p:sp>
      <p:sp>
        <p:nvSpPr>
          <p:cNvPr id="192" name="Google Shape;192;p19"/>
          <p:cNvSpPr txBox="1"/>
          <p:nvPr/>
        </p:nvSpPr>
        <p:spPr>
          <a:xfrm>
            <a:off x="947737" y="4701927"/>
            <a:ext cx="2009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336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Days of Tracking</a:t>
            </a:r>
            <a:endParaRPr dirty="0"/>
          </a:p>
        </p:txBody>
      </p:sp>
      <p:sp>
        <p:nvSpPr>
          <p:cNvPr id="193" name="Google Shape;193;p19"/>
          <p:cNvSpPr txBox="1"/>
          <p:nvPr/>
        </p:nvSpPr>
        <p:spPr>
          <a:xfrm>
            <a:off x="3533775" y="1914525"/>
            <a:ext cx="829103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336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Πλήρης Χρονολογική Ανάλυση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3533775" y="2381250"/>
            <a:ext cx="7896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Ο πίνακας </a:t>
            </a:r>
            <a:r>
              <a:rPr lang="en-US" sz="1500" b="1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Dim_Date</a:t>
            </a: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επιτρέπει την ανάλυση των κρατήσεων και των κριτικών ανά έτος, μήνα και ημέρα, διευκολύνοντας τον εντοπισμό εποχικότητας (seasonality patterns).</a:t>
            </a:r>
            <a:endParaRPr/>
          </a:p>
        </p:txBody>
      </p:sp>
      <p:pic>
        <p:nvPicPr>
          <p:cNvPr id="195" name="Google Shape;19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33775" y="3581400"/>
            <a:ext cx="7896225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7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033587"/>
            <a:ext cx="5048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952500" y="647700"/>
            <a:ext cx="1100137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FACT_BOOKINGS: OPERATIONS</a:t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762000" y="647700"/>
            <a:ext cx="47625" cy="5619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762000" y="221932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Παρακολούθηση της επιχειρησιακής δραστηριότητας μέσω των κρατήσεων.</a:t>
            </a:r>
            <a:endParaRPr/>
          </a:p>
        </p:txBody>
      </p:sp>
      <p:pic>
        <p:nvPicPr>
          <p:cNvPr id="205" name="Google Shape;20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33587"/>
            <a:ext cx="5048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1238250" y="3114675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Pricing Strategy:</a:t>
            </a: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Σύγκριση αρχικής και προσαρμοσμένης τιμής.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1238250" y="396240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Availability:</a:t>
            </a: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Παρακολούθηση διαθεσιμότητας σε πραγματικό χρόνο.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1238250" y="4810125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Stay Patterns:</a:t>
            </a: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Ανάλυση ελάχιστων και μέγιστων διανυκτερεύσεων.</a:t>
            </a:r>
            <a:endParaRPr/>
          </a:p>
        </p:txBody>
      </p:sp>
      <p:pic>
        <p:nvPicPr>
          <p:cNvPr id="209" name="Google Shape;20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06705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91477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762500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7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952500" y="647700"/>
            <a:ext cx="1100137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FACT_REVIEWS: GUEST SENTIMENT</a:t>
            </a:r>
            <a:endParaRPr/>
          </a:p>
        </p:txBody>
      </p:sp>
      <p:sp>
        <p:nvSpPr>
          <p:cNvPr id="218" name="Google Shape;218;p21"/>
          <p:cNvSpPr/>
          <p:nvPr/>
        </p:nvSpPr>
        <p:spPr>
          <a:xfrm>
            <a:off x="762000" y="647700"/>
            <a:ext cx="47625" cy="5619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1238250" y="2852737"/>
            <a:ext cx="10191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Σύνδεση με Επισκέπτη:</a:t>
            </a: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Κάθε κριτική συνδέεται άμεσα με το Dim_Reviewer.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1238250" y="3395662"/>
            <a:ext cx="10191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Χρονική Συσχέτιση:</a:t>
            </a: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Ανάλυση περιόδων με υψηλή ένταση σχολίων (Dim_Date).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1238250" y="3938587"/>
            <a:ext cx="10191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Ποιοτική Ανάλυση:</a:t>
            </a: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Αποθήκευση σχολίων για μελλοντική ανάλυση κειμένου (NLP).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1238250" y="4481512"/>
            <a:ext cx="10191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Listing ID FK:</a:t>
            </a: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Σύνδεση με το κατάλυμα για εντοπισμό προβλημάτων στην εμπειρία του πελάτη.</a:t>
            </a:r>
            <a:endParaRPr/>
          </a:p>
        </p:txBody>
      </p:sp>
      <p:pic>
        <p:nvPicPr>
          <p:cNvPr id="223" name="Google Shape;22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80511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334803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389096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4433887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7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952500" y="647700"/>
            <a:ext cx="1100137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FACT-DIMENSION USAGE MATRIX</a:t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762000" y="647700"/>
            <a:ext cx="47625" cy="5619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762000" y="3662362"/>
            <a:ext cx="2771179" cy="9525"/>
          </a:xfrm>
          <a:prstGeom prst="rect">
            <a:avLst/>
          </a:prstGeom>
          <a:solidFill>
            <a:srgbClr val="E5E4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3533179" y="3662362"/>
            <a:ext cx="1468933" cy="9525"/>
          </a:xfrm>
          <a:prstGeom prst="rect">
            <a:avLst/>
          </a:prstGeom>
          <a:solidFill>
            <a:srgbClr val="E5E4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5002113" y="3662362"/>
            <a:ext cx="1281410" cy="9525"/>
          </a:xfrm>
          <a:prstGeom prst="rect">
            <a:avLst/>
          </a:prstGeom>
          <a:solidFill>
            <a:srgbClr val="E5E4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6283523" y="3662362"/>
            <a:ext cx="2281535" cy="9525"/>
          </a:xfrm>
          <a:prstGeom prst="rect">
            <a:avLst/>
          </a:prstGeom>
          <a:solidFill>
            <a:srgbClr val="E5E4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8565058" y="3662362"/>
            <a:ext cx="1281410" cy="9525"/>
          </a:xfrm>
          <a:prstGeom prst="rect">
            <a:avLst/>
          </a:prstGeom>
          <a:solidFill>
            <a:srgbClr val="E5E4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9846468" y="3662362"/>
            <a:ext cx="1583531" cy="9525"/>
          </a:xfrm>
          <a:prstGeom prst="rect">
            <a:avLst/>
          </a:prstGeom>
          <a:solidFill>
            <a:srgbClr val="E5E4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762000" y="4214812"/>
            <a:ext cx="2771179" cy="9525"/>
          </a:xfrm>
          <a:prstGeom prst="rect">
            <a:avLst/>
          </a:prstGeom>
          <a:solidFill>
            <a:srgbClr val="E5E4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3533179" y="4214812"/>
            <a:ext cx="1468933" cy="9525"/>
          </a:xfrm>
          <a:prstGeom prst="rect">
            <a:avLst/>
          </a:prstGeom>
          <a:solidFill>
            <a:srgbClr val="E5E4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5002113" y="4214812"/>
            <a:ext cx="1281410" cy="9525"/>
          </a:xfrm>
          <a:prstGeom prst="rect">
            <a:avLst/>
          </a:prstGeom>
          <a:solidFill>
            <a:srgbClr val="E5E4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6283523" y="4214812"/>
            <a:ext cx="2281535" cy="9525"/>
          </a:xfrm>
          <a:prstGeom prst="rect">
            <a:avLst/>
          </a:prstGeom>
          <a:solidFill>
            <a:srgbClr val="E5E4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8565058" y="4214812"/>
            <a:ext cx="1281410" cy="9525"/>
          </a:xfrm>
          <a:prstGeom prst="rect">
            <a:avLst/>
          </a:prstGeom>
          <a:solidFill>
            <a:srgbClr val="E5E4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9846468" y="4214812"/>
            <a:ext cx="1583531" cy="9525"/>
          </a:xfrm>
          <a:prstGeom prst="rect">
            <a:avLst/>
          </a:prstGeom>
          <a:solidFill>
            <a:srgbClr val="E5E4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762000" y="4767262"/>
            <a:ext cx="2771179" cy="9525"/>
          </a:xfrm>
          <a:prstGeom prst="rect">
            <a:avLst/>
          </a:prstGeom>
          <a:solidFill>
            <a:srgbClr val="E5E4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3533179" y="4767262"/>
            <a:ext cx="1468933" cy="9525"/>
          </a:xfrm>
          <a:prstGeom prst="rect">
            <a:avLst/>
          </a:prstGeom>
          <a:solidFill>
            <a:srgbClr val="E5E4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5002113" y="4767262"/>
            <a:ext cx="1281410" cy="9525"/>
          </a:xfrm>
          <a:prstGeom prst="rect">
            <a:avLst/>
          </a:prstGeom>
          <a:solidFill>
            <a:srgbClr val="E5E4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6283523" y="4767262"/>
            <a:ext cx="2281535" cy="9525"/>
          </a:xfrm>
          <a:prstGeom prst="rect">
            <a:avLst/>
          </a:prstGeom>
          <a:solidFill>
            <a:srgbClr val="E5E4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8565058" y="4767262"/>
            <a:ext cx="1281410" cy="9525"/>
          </a:xfrm>
          <a:prstGeom prst="rect">
            <a:avLst/>
          </a:prstGeom>
          <a:solidFill>
            <a:srgbClr val="E5E4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9846468" y="4767262"/>
            <a:ext cx="1583531" cy="9525"/>
          </a:xfrm>
          <a:prstGeom prst="rect">
            <a:avLst/>
          </a:prstGeom>
          <a:solidFill>
            <a:srgbClr val="E5E4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762000" y="5319712"/>
            <a:ext cx="2771179" cy="9525"/>
          </a:xfrm>
          <a:prstGeom prst="rect">
            <a:avLst/>
          </a:prstGeom>
          <a:solidFill>
            <a:srgbClr val="E5E4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3533179" y="5319712"/>
            <a:ext cx="1468933" cy="9525"/>
          </a:xfrm>
          <a:prstGeom prst="rect">
            <a:avLst/>
          </a:prstGeom>
          <a:solidFill>
            <a:srgbClr val="E5E4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5002113" y="5319712"/>
            <a:ext cx="1281410" cy="9525"/>
          </a:xfrm>
          <a:prstGeom prst="rect">
            <a:avLst/>
          </a:prstGeom>
          <a:solidFill>
            <a:srgbClr val="E5E4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6283523" y="5319712"/>
            <a:ext cx="2281535" cy="9525"/>
          </a:xfrm>
          <a:prstGeom prst="rect">
            <a:avLst/>
          </a:prstGeom>
          <a:solidFill>
            <a:srgbClr val="E5E4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8565058" y="5319712"/>
            <a:ext cx="1281410" cy="9525"/>
          </a:xfrm>
          <a:prstGeom prst="rect">
            <a:avLst/>
          </a:prstGeom>
          <a:solidFill>
            <a:srgbClr val="E5E4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9846468" y="5319712"/>
            <a:ext cx="1583531" cy="9525"/>
          </a:xfrm>
          <a:prstGeom prst="rect">
            <a:avLst/>
          </a:prstGeom>
          <a:solidFill>
            <a:srgbClr val="E5E4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1F0737-14FE-BA1D-7D9E-29A088694B8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88922" y="2524645"/>
            <a:ext cx="11496677" cy="22182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7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952500" y="1604962"/>
            <a:ext cx="460057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BUSINESS VALUE</a:t>
            </a:r>
            <a:endParaRPr/>
          </a:p>
        </p:txBody>
      </p:sp>
      <p:sp>
        <p:nvSpPr>
          <p:cNvPr id="242" name="Google Shape;242;p23"/>
          <p:cNvSpPr/>
          <p:nvPr/>
        </p:nvSpPr>
        <p:spPr>
          <a:xfrm>
            <a:off x="762000" y="1604962"/>
            <a:ext cx="47625" cy="5619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762000" y="2547937"/>
            <a:ext cx="4800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336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Στρατηγική Λήψη Αποφάσεων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762000" y="3014662"/>
            <a:ext cx="4572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Το</a:t>
            </a:r>
            <a:r>
              <a:rPr lang="en-US" sz="1500" b="0" i="0" u="none" strike="noStrike" cap="none" dirty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Snowflake Schema επ</a:t>
            </a:r>
            <a:r>
              <a:rPr lang="en-US" sz="1500" b="0" i="0" u="none" strike="noStrike" cap="none" dirty="0" err="1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ιτρέ</a:t>
            </a:r>
            <a:r>
              <a:rPr lang="en-US" sz="1500" b="0" i="0" u="none" strike="noStrike" cap="none" dirty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πει στους αναλυτές να "τεμαχίζουν" (slice &amp; dice) τα δεδομένα για:</a:t>
            </a:r>
            <a:endParaRPr dirty="0"/>
          </a:p>
        </p:txBody>
      </p:sp>
      <p:pic>
        <p:nvPicPr>
          <p:cNvPr id="245" name="Google Shape;24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7620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1238250" y="3814762"/>
            <a:ext cx="4095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Βελτιστοποίηση τιμολόγησης ανά γειτονιά.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1238250" y="4357687"/>
            <a:ext cx="4095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Εντοπισμό Superhosts με υψηλή απόδοση.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1238250" y="4900612"/>
            <a:ext cx="4095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Ανάλυση πληρότητας ανά τύπο δωματίου.</a:t>
            </a:r>
            <a:endParaRPr/>
          </a:p>
        </p:txBody>
      </p:sp>
      <p:pic>
        <p:nvPicPr>
          <p:cNvPr id="249" name="Google Shape;24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76713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31006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852987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7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4"/>
          <p:cNvSpPr txBox="1"/>
          <p:nvPr/>
        </p:nvSpPr>
        <p:spPr>
          <a:xfrm>
            <a:off x="2095500" y="1972567"/>
            <a:ext cx="8001000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SUMMARY &amp; QUESTIONS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2066925" y="3163192"/>
            <a:ext cx="80581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A4A4A"/>
                </a:solidFill>
                <a:latin typeface="Inter Light"/>
                <a:ea typeface="Inter Light"/>
                <a:cs typeface="Inter Light"/>
                <a:sym typeface="Inter Light"/>
              </a:rPr>
              <a:t>Η αρχιτεκτονική είναι έτοιμη για υλοποίηση σε περιβάλλον SQL.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4024312" y="4161383"/>
            <a:ext cx="4143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Total Entities: 7 Dimensions | 3 Fact Tables</a:t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4024312" y="4656683"/>
            <a:ext cx="4143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Ευχαριστούμε για την προσοχή σας.</a:t>
            </a:r>
            <a:endParaRPr/>
          </a:p>
        </p:txBody>
      </p:sp>
      <p:pic>
        <p:nvPicPr>
          <p:cNvPr id="261" name="Google Shape;26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24312" y="4218533"/>
            <a:ext cx="1714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395</Words>
  <Application>Microsoft Office PowerPoint</Application>
  <PresentationFormat>Widescreen</PresentationFormat>
  <Paragraphs>54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Inter Light</vt:lpstr>
      <vt:lpstr>Inter</vt:lpstr>
      <vt:lpstr>Inter SemiBold</vt:lpstr>
      <vt:lpstr>Arial</vt:lpstr>
      <vt:lpstr>Calibri</vt:lpstr>
      <vt:lpstr>Playfair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Galanakis Dimitrios</cp:lastModifiedBy>
  <cp:revision>3</cp:revision>
  <dcterms:modified xsi:type="dcterms:W3CDTF">2026-06-17T08:27:57Z</dcterms:modified>
</cp:coreProperties>
</file>